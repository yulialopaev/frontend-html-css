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66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3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65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мы связываем HTML не только с тегами, но и с тем, что происходит после ввода адреса сайта. Главная идея занятия: браузер не «магически показывает страницу», а проходит цепочку этапов — находит сервер, устанавливает соединение, получает HTML, обнаруживает дополнительные ресурсы и постепенно строит видимую страницу. Поэтому производительность — это не одна кнопка «сделать быстро», а совокупность сетевых, вычислительных и визуальных процессов.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простого тезиса: пользователь не видит отдельные подсистемы браузера. Он не говорит: «у меня долго выполнялся TLS handshake» или «main thread был занят». Он говорит: «сайт долго открывался» или «кнопка нажимается с задержкой». Поэтому производительность нужно объяснять через пользовательский опыт: когда появился контент, когда страница стала интерактивной, не сдвинулись ли элементы и нет ли рывков при скроллинге. Это хороший мост от HTML к реальной инженерной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исходной формулировке есть важное уточнение. Нельзя говорить, что весь браузер строго однопоточен: Chrome, Firefox и Safari используют процессы и потоки. Но для разработчика критично другое: внутри процесса рендерера есть главный поток, на котором выполняется значительная часть JavaScript, вычисление стилей, layout и часть подготовки paint. Если мы нагружаем этот поток тяжёлым кодом, браузеру труднее вовремя обработать ввод пользователя и обновить картинку. Поэтому для студентов лучше формулировать так: «браузер сложнее, чем один поток, но пользовательская страница часто тормозит именно из-за занятого main thread».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хорошо привести простой пример из аудитории. На компьютере преподавателя сайт открывается мгновенно, потому что интернет быстрый, кэш прогрет, ноутбук мощный. Но у пользователя на телефоне через мобильную сеть тот же сайт может быть медленным. Поэтому фраза «у меня работает быстро» не является доказательством хорошей производительности. Нужны измерения: с эмуляцией сети, с настоящих устройств, с разными браузерами и по реальным пользователям.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Событие load — это понятный момент жизненного цикла страницы, но пользователь не обязательно ориентируется на него. Представьте страницу, которая быстро отдаёт пустой HTML, а потом через JavaScript долго подтягивает контент. В отчёте load может выглядеть хорошо, но человек видит пустой экран или скелетон. Поэтому современные метрики сместились к пользовательскому восприятию: когда появился главный контент, как быстро страница реагирует, не смещаются ли элементы.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важно поправить распространённую устаревшую информацию: раньше в Core Web Vitals была метрика FID, но сейчас её место заняла INP. LCP отвечает за загрузку главного контента, INP — за отзывчивость при взаимодействиях, CLS — за визуальную стабильность. Для начинающих не нужно сразу уходить в сложные детали, но нужно объяснить смысл: метрика должна быть связана с тем, что реально переживает пользователь.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Лабораторный тест — это контролируемый эксперимент: мы сами задаём условия, например медленную сеть или слабый CPU, и смотрим, где узкое место. Но лаборатория не покажет всех реальных вариантов: у пользователей разные телефоны, разные провайдеры, разный кэш, разные рекламные блоки. RUM — это данные от настоящих пользователей. В обучении лучше сначала пользоваться DevTools и Lighthouse, а затем объяснить, что в промышленной разработке добавляют 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объяснить, что пользовательский интерфейс браузера — это не содержимое сайта, а сам браузер: вкладки, кнопки, адресная строка. Networking отвечает за сетевые операции. Rendering engine превращает HTML и CSS в визуальную структуру. JavaScript engine выполняет код. Storage хранит данные вроде cookies и localStorage. В разных браузерах эти подсистемы реализованы по-разному, но логика работы для веб-разработчика похожа.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важно не перегружать студентов историей, но дать ориентиры. Blink — движок Chromium, на котором основаны Chrome, Edge, Opera, Brave и Яндекс.Браузер. Safari использует WebKit. Firefox использует Gecko, а Quantum — это название крупной модернизации Firefox. Практический вывод: если страница работает в Chrome, это ещё не значит, что она идеально работает в Safari и Firefox. Тестирование в нескольких браузерах — часть профессии.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вопрос студентов: при переходе на адрес сайта браузер обычно получает HTML как первый документ. Сервер может сделать редирект или вернуть другой тип данных, но для обычной веб-страницы точка входа — HTML. CSS, JavaScript, изображения и шрифты не «прилетают все сразу» вместе с первым HTML. Браузер сначала читает HTML, находит ссылки на ресурсы и уже потом делает дополнительные запросы.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DNS можно объяснить как «адресную книгу интернета», но лучше не останавливаться только на аналогии. Браузер ищет IP-адрес сначала в близких кэшах: у себя, в операционной системе, у провайдера. Если ответа нет, запрос идёт дальше по DNS-иерархии. Важно подчеркнуть практический момент: каждый уникальный hostname может добавить задержку. Если HTML тянет шрифты с одного домена, картинки с другого, аналитику с третьего, реклама — с четвёртого, браузеру может понадобиться несколько DNS-запросов.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 handshake объясняем как договорённость: клиент говорит «хочу соединиться», сервер подтверждает и тоже синхронизируется, клиент подтверждает. Для HTTPS поверх этого строится TLS-сессия. В TLS браузер и сервер согласуют параметры шифрования, сервер предоставляет сертификат, браузер проверяет его подлинность, затем создаются ключи сессии. Для студентов важно понять не криптографию, а цену: до первого HTML есть несколько сетевых шагов, каждый из которых может занять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— это язык общения клиента и сервера. В запросе указывается метод, путь, заголовки и иногда тело. Первый запрос веб-страницы обычно GET на HTML-документ. Ответ содержит статус, заголовки и тело ответа. Важно объяснить, что HTTP сам по себе не хранит состояние пользователя между запросами. Поэтому логин, корзина, тема оформления и другие данные реализуются дополнительными механизмами: cookies, сессии, токены, localStorage и так далее.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ключевой слайд для студентов HTML. Когда мы открываем сайт, сервер не обязан отправлять «сайт целиком одним куском». Чаще всего он отправляет HTML, а HTML содержит ссылки на остальные ресурсы. Браузер читает документ и видит: нужен CSS — отправляет запрос; нужен JS — отправляет запрос; нужна картинка — отправляет запрос. Поэтому правильные пути в HTML важны: ошибка в href или src приводит к тому, что ресурс не загрузится.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Рендеринг — это не просто «нарисовать страницу». Сначала браузер разбирает HTML и строит DOM — дерево элементов. Затем разбирает CSS и строит CSSOM — дерево правил стилей. После этого браузер понимает, какие элементы видимы, какие стили к ним применяются, строит render tree или layout tree, считает размеры и позиции, закрашивает пиксели и композитит слои. Если JavaScript позже меняет страницу, часть этой работы может повториться. Поэтому тяжёлые изменения DOM и стилей могут тормозить.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связать теорию с практикой. Если страница медленная, причин может быть много. Сеть: много доменов, большие картинки, отсутствие кэша. Рендеринг: блокирующие стили, тяжёлые шрифты, неожиданные смещения. JavaScript: большой бандл, длинные задачи, занятый главный поток. Поэтому не нужно оптимизировать вслепую. Сначала открываем DevTools: вкладка Network показывает загрузку ресурсов, вкладка Performance показывает занятость потоков и этапы рендеринга.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использовать как готовый сценарий упражнения. В WebStorm создаём простой проект: index.html, css/style.css, js/app.js и картинку. Открываем index.html в браузере. Затем открываем DevTools, вкладку Network, обновляем страницу и показываем студентам, что есть отдельный запрос к HTML, отдельный к CSS, отдельный к JavaScript и отдельный к изображению. После этого можно открыть Performance и записать короткую загрузку, чтобы показать DOM, JS и rendering на таймлайне.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финале соберите всю цепочку. Ввод URL запускает навигацию. DNS помогает найти сервер. TCP и TLS устанавливают соединение и безопасность. HTTP приносит первый HTML. HTML содержит ссылки на ресурсы, которые браузер догружает отдельно. Затем начинается рендеринг: DOM, CSSOM, layout, paint и composite. Для начинающих это очень важная картина: HTML — не внешний вид, а структура и стартовая точка для работы браузера.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нужен, чтобы показать студентам и себе, что текст был не просто переписан, а актуализирован. Самые важные уточнения: в Core Web Vitals сейчас используется INP, а не FID; современные браузеры многопроцессные и многопоточные, хотя критическая работа страницы часто упирается в main thread; при обычной загрузке сайта сначала приходит HTML, а CSS, JS, изображения и шрифты загружаются отдельными запросами после анализа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12700">
            <a:solidFill>
              <a:srgbClr val="D4C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465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• браузер • сеть • рендеринг • производительность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WebStorm + DevTools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45720"/>
            <a:ext cx="4343400" cy="4343400"/>
          </a:xfrm>
          <a:prstGeom prst="arc">
            <a:avLst/>
          </a:prstGeom>
          <a:solidFill>
            <a:srgbClr val="0D1B2A">
              <a:alpha val="0"/>
            </a:srgbClr>
          </a:solidFill>
          <a:ln w="254000">
            <a:solidFill>
              <a:srgbClr val="00A6B2">
                <a:alpha val="4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548640"/>
            <a:ext cx="3611880" cy="3611880"/>
          </a:xfrm>
          <a:prstGeom prst="arc">
            <a:avLst/>
          </a:prstGeom>
          <a:solidFill>
            <a:srgbClr val="0D1B2A">
              <a:alpha val="0"/>
            </a:srgbClr>
          </a:solidFill>
          <a:ln w="203200">
            <a:solidFill>
              <a:srgbClr val="F2A83B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веб-приложений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13232" y="239572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CF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браузер получает HTML, загружает ресурсы и превращает код в страницу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58952" y="3895344"/>
            <a:ext cx="475488" cy="475488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89304" y="4133088"/>
            <a:ext cx="640080" cy="0"/>
          </a:xfrm>
          <a:prstGeom prst="line">
            <a:avLst/>
          </a:prstGeom>
          <a:noFill/>
          <a:ln w="19050">
            <a:solidFill>
              <a:srgbClr val="6A7E9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84248" y="3895344"/>
            <a:ext cx="475488" cy="475488"/>
          </a:xfrm>
          <a:prstGeom prst="ellipse">
            <a:avLst/>
          </a:prstGeom>
          <a:solidFill>
            <a:srgbClr val="28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4133088"/>
            <a:ext cx="640080" cy="0"/>
          </a:xfrm>
          <a:prstGeom prst="line">
            <a:avLst/>
          </a:prstGeom>
          <a:noFill/>
          <a:ln w="19050">
            <a:solidFill>
              <a:srgbClr val="6A7E9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9544" y="3895344"/>
            <a:ext cx="475488" cy="475488"/>
          </a:xfrm>
          <a:prstGeom prst="ellipse">
            <a:avLst/>
          </a:prstGeom>
          <a:solidFill>
            <a:srgbClr val="F2A83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TCP/TLS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39896" y="4133088"/>
            <a:ext cx="640080" cy="0"/>
          </a:xfrm>
          <a:prstGeom prst="line">
            <a:avLst/>
          </a:prstGeom>
          <a:noFill/>
          <a:ln w="19050">
            <a:solidFill>
              <a:srgbClr val="6A7E9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3895344"/>
            <a:ext cx="475488" cy="475488"/>
          </a:xfrm>
          <a:prstGeom prst="ellipse">
            <a:avLst/>
          </a:prstGeom>
          <a:solidFill>
            <a:srgbClr val="E65A4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65192" y="4133088"/>
            <a:ext cx="640080" cy="0"/>
          </a:xfrm>
          <a:prstGeom prst="line">
            <a:avLst/>
          </a:prstGeom>
          <a:noFill/>
          <a:ln w="19050">
            <a:solidFill>
              <a:srgbClr val="6A7E9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0136" y="3895344"/>
            <a:ext cx="475488" cy="475488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DOM/CSSOM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0488" y="4133088"/>
            <a:ext cx="640080" cy="0"/>
          </a:xfrm>
          <a:prstGeom prst="line">
            <a:avLst/>
          </a:prstGeom>
          <a:noFill/>
          <a:ln w="19050">
            <a:solidFill>
              <a:srgbClr val="6A7E9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85432" y="3895344"/>
            <a:ext cx="475488" cy="475488"/>
          </a:xfrm>
          <a:prstGeom prst="ellipse">
            <a:avLst/>
          </a:prstGeom>
          <a:solidFill>
            <a:srgbClr val="7A5C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4517136"/>
            <a:ext cx="7132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D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6144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HTML • работа в WebStorm и DevTools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ПРОБЛЕМЫ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пользователи называют «быстрым сайтом»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3327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редко разделяет сеть, JavaScript и рендеринг. Он оценивает итоговое ощущение: «быстро открылось», «не тормозит», «не прыгает».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512064" cy="512064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075688"/>
            <a:ext cx="2560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появился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0784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полезная информация на экране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06440" y="1975104"/>
            <a:ext cx="1600200" cy="347472"/>
          </a:xfrm>
          <a:prstGeom prst="roundRect">
            <a:avLst>
              <a:gd name="adj" fmla="val 34211"/>
            </a:avLst>
          </a:prstGeom>
          <a:solidFill>
            <a:srgbClr val="00A6B2"/>
          </a:solidFill>
          <a:ln w="12700">
            <a:solidFill>
              <a:srgbClr val="00A6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70432" y="2560320"/>
            <a:ext cx="0" cy="320040"/>
          </a:xfrm>
          <a:prstGeom prst="line">
            <a:avLst/>
          </a:prstGeom>
          <a:noFill/>
          <a:ln w="1651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2916936"/>
            <a:ext cx="512064" cy="512064"/>
          </a:xfrm>
          <a:prstGeom prst="ellipse">
            <a:avLst/>
          </a:prstGeom>
          <a:solidFill>
            <a:srgbClr val="F2A83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035808"/>
            <a:ext cx="2560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нажимать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00784" y="3172968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отвечает на действия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806440" y="2935224"/>
            <a:ext cx="1600200" cy="347472"/>
          </a:xfrm>
          <a:prstGeom prst="roundRect">
            <a:avLst>
              <a:gd name="adj" fmla="val 34211"/>
            </a:avLst>
          </a:prstGeom>
          <a:solidFill>
            <a:srgbClr val="F2A83B"/>
          </a:solidFill>
          <a:ln w="12700">
            <a:solidFill>
              <a:srgbClr val="F2A8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008376"/>
            <a:ext cx="1417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интерактивность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70432" y="3520440"/>
            <a:ext cx="0" cy="320040"/>
          </a:xfrm>
          <a:prstGeom prst="line">
            <a:avLst/>
          </a:prstGeom>
          <a:noFill/>
          <a:ln w="1651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3877056"/>
            <a:ext cx="512064" cy="512064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995928"/>
            <a:ext cx="2560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стабильно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00784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элементы не скачут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806440" y="3895344"/>
            <a:ext cx="1600200" cy="347472"/>
          </a:xfrm>
          <a:prstGeom prst="roundRect">
            <a:avLst>
              <a:gd name="adj" fmla="val 34211"/>
            </a:avLst>
          </a:prstGeom>
          <a:solidFill>
            <a:srgbClr val="6DAA57"/>
          </a:solidFill>
          <a:ln w="12700">
            <a:solidFill>
              <a:srgbClr val="6DAA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968496"/>
            <a:ext cx="1417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стабильность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70432" y="4480560"/>
            <a:ext cx="0" cy="320040"/>
          </a:xfrm>
          <a:prstGeom prst="line">
            <a:avLst/>
          </a:prstGeom>
          <a:noFill/>
          <a:ln w="1651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" y="4837176"/>
            <a:ext cx="512064" cy="512064"/>
          </a:xfrm>
          <a:prstGeom prst="ellipse">
            <a:avLst/>
          </a:prstGeom>
          <a:solidFill>
            <a:srgbClr val="7A5C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956048"/>
            <a:ext cx="2560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плавное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00784" y="5093208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скролл и анимации без рывков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806440" y="4855464"/>
            <a:ext cx="1600200" cy="347472"/>
          </a:xfrm>
          <a:prstGeom prst="roundRect">
            <a:avLst>
              <a:gd name="adj" fmla="val 34211"/>
            </a:avLst>
          </a:prstGeom>
          <a:solidFill>
            <a:srgbClr val="7A5CFF"/>
          </a:solidFill>
          <a:ln w="12700">
            <a:solidFill>
              <a:srgbClr val="7A5C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928616"/>
            <a:ext cx="1417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плавность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192024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BBA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75320" y="2761488"/>
            <a:ext cx="2606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— это не только «сколько секунд грузилось». Это качество всего пути пользователя от первого запроса до каждого клика.</a:t>
            </a:r>
            <a:endParaRPr lang="en-US" sz="1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ДЛЯ НАЧИНАЮЩИХ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основных источника задержек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учебного объяснения удобно держать в голове две зоны риска: сеть и главный поток рендерера.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938528"/>
            <a:ext cx="1828800" cy="914400"/>
          </a:xfrm>
          <a:prstGeom prst="cloud">
            <a:avLst/>
          </a:prstGeom>
          <a:solidFill>
            <a:srgbClr val="DDF3F4"/>
          </a:solidFill>
          <a:ln w="25400">
            <a:solidFill>
              <a:srgbClr val="00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249424"/>
            <a:ext cx="960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395728"/>
            <a:ext cx="1280160" cy="0"/>
          </a:xfrm>
          <a:prstGeom prst="line">
            <a:avLst/>
          </a:prstGeom>
          <a:noFill/>
          <a:ln w="27940">
            <a:solidFill>
              <a:srgbClr val="00A6B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24528" y="1993392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53949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DNS, TCP/TLS, HTTP, размер ресурсов, кэш, CDN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784848" y="1965960"/>
            <a:ext cx="4343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2240280"/>
            <a:ext cx="3611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 main thread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903720" y="3072384"/>
            <a:ext cx="822960" cy="347472"/>
          </a:xfrm>
          <a:prstGeom prst="roundRect">
            <a:avLst>
              <a:gd name="adj" fmla="val 34211"/>
            </a:avLst>
          </a:prstGeom>
          <a:solidFill>
            <a:srgbClr val="E65A4F"/>
          </a:solidFill>
          <a:ln w="12700">
            <a:solidFill>
              <a:srgbClr val="E65A4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27848" y="3072384"/>
            <a:ext cx="822960" cy="347472"/>
          </a:xfrm>
          <a:prstGeom prst="roundRect">
            <a:avLst>
              <a:gd name="adj" fmla="val 34211"/>
            </a:avLst>
          </a:prstGeom>
          <a:solidFill>
            <a:srgbClr val="2864C7"/>
          </a:solidFill>
          <a:ln w="12700">
            <a:solidFill>
              <a:srgbClr val="2864C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51976" y="3072384"/>
            <a:ext cx="822960" cy="347472"/>
          </a:xfrm>
          <a:prstGeom prst="roundRect">
            <a:avLst>
              <a:gd name="adj" fmla="val 34211"/>
            </a:avLst>
          </a:prstGeom>
          <a:solidFill>
            <a:srgbClr val="6DAA57"/>
          </a:solidFill>
          <a:ln w="12700">
            <a:solidFill>
              <a:srgbClr val="6DAA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76104" y="3072384"/>
            <a:ext cx="822960" cy="347472"/>
          </a:xfrm>
          <a:prstGeom prst="roundRect">
            <a:avLst>
              <a:gd name="adj" fmla="val 34211"/>
            </a:avLst>
          </a:prstGeom>
          <a:solidFill>
            <a:srgbClr val="7A5CFF"/>
          </a:solidFill>
          <a:ln w="12700">
            <a:solidFill>
              <a:srgbClr val="7A5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67544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3886200"/>
            <a:ext cx="4343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JavaScript, стили, layout и часть paint-работы конкурируют за время главного потока.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96112" y="4956048"/>
            <a:ext cx="10314432" cy="475488"/>
          </a:xfrm>
          <a:prstGeom prst="roundRect">
            <a:avLst>
              <a:gd name="adj" fmla="val 15385"/>
            </a:avLst>
          </a:prstGeom>
          <a:solidFill>
            <a:srgbClr val="E9DFC9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084064"/>
            <a:ext cx="10012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Фактчекинг: современный браузер не является буквально «однопоточным». Он многопроцессный и многопоточный, но многие критичные задачи страницы упираются в главный поток рендерера.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САЙТ — РАЗНЫЕ УСЛОВИЯ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 относительна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Одинаковый HTML может ощущаться по-разному на разных устройствах и сетях.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4526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BBAF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2697480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сеть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современный ноутбук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прогретый кэш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4169664"/>
            <a:ext cx="1920240" cy="347472"/>
          </a:xfrm>
          <a:prstGeom prst="roundRect">
            <a:avLst>
              <a:gd name="adj" fmla="val 34211"/>
            </a:avLst>
          </a:prstGeom>
          <a:solidFill>
            <a:srgbClr val="6DAA57"/>
          </a:solidFill>
          <a:ln w="12700">
            <a:solidFill>
              <a:srgbClr val="6DA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242816"/>
            <a:ext cx="1737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кажется быстро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1874520"/>
            <a:ext cx="4526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BBAF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2697480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медленная сеть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недорогой телефон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кэша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86600" y="4169664"/>
            <a:ext cx="2057400" cy="347472"/>
          </a:xfrm>
          <a:prstGeom prst="roundRect">
            <a:avLst>
              <a:gd name="adj" fmla="val 34211"/>
            </a:avLst>
          </a:prstGeom>
          <a:solidFill>
            <a:srgbClr val="E65A4F"/>
          </a:solidFill>
          <a:ln w="12700">
            <a:solidFill>
              <a:srgbClr val="E65A4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242816"/>
            <a:ext cx="1874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кажется медленно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3456432"/>
            <a:ext cx="1252728" cy="0"/>
          </a:xfrm>
          <a:prstGeom prst="line">
            <a:avLst/>
          </a:prstGeom>
          <a:noFill/>
          <a:ln w="2540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49824" y="2926080"/>
            <a:ext cx="1234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сайт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687568"/>
            <a:ext cx="99669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измерять нужно не только «на своём компьютере», а в условиях, близких к реальным пользователям.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событие load недостаточно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 скорость часто измеряли событием load, но оно плохо показывает восприятие пользователя.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2788920"/>
            <a:ext cx="10012680" cy="0"/>
          </a:xfrm>
          <a:prstGeom prst="line">
            <a:avLst/>
          </a:prstGeom>
          <a:noFill/>
          <a:ln w="38100">
            <a:solidFill>
              <a:srgbClr val="BBAF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24328"/>
            <a:ext cx="329184" cy="329184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72968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пришёл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063240" y="2624328"/>
            <a:ext cx="329184" cy="329184"/>
          </a:xfrm>
          <a:prstGeom prst="ellipse">
            <a:avLst/>
          </a:prstGeom>
          <a:solidFill>
            <a:srgbClr val="28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172968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разобран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40680" y="2624328"/>
            <a:ext cx="329184" cy="329184"/>
          </a:xfrm>
          <a:prstGeom prst="ellipse">
            <a:avLst/>
          </a:prstGeom>
          <a:solidFill>
            <a:srgbClr val="E65A4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172968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6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0" y="2624328"/>
            <a:ext cx="329184" cy="329184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172968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реально появился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01200" y="2624328"/>
            <a:ext cx="329184" cy="329184"/>
          </a:xfrm>
          <a:prstGeom prst="ellipse">
            <a:avLst/>
          </a:prstGeom>
          <a:solidFill>
            <a:srgbClr val="7A5C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172968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ответила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4434840"/>
            <a:ext cx="48920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718304"/>
            <a:ext cx="4434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 страница может «загрузиться» быстро.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718304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всё ещё может ждать контент или отклик.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 МЕТРИКИ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Core Web Vitals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515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общего языка производительности используются метрики пользовательского опыта. В 2024 году INP заменил FID.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901952"/>
            <a:ext cx="658368" cy="658368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112264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886200" y="193852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появился крупнейший важный элемент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006840" y="2002536"/>
            <a:ext cx="1417320" cy="347472"/>
          </a:xfrm>
          <a:prstGeom prst="roundRect">
            <a:avLst>
              <a:gd name="adj" fmla="val 34211"/>
            </a:avLst>
          </a:prstGeom>
          <a:solidFill>
            <a:srgbClr val="00A6B2"/>
          </a:solidFill>
          <a:ln w="12700">
            <a:solidFill>
              <a:srgbClr val="00A6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2075688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2.5 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044952"/>
            <a:ext cx="658368" cy="658368"/>
          </a:xfrm>
          <a:prstGeom prst="ellipse">
            <a:avLst/>
          </a:prstGeom>
          <a:solidFill>
            <a:srgbClr val="F2A83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255264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886200" y="308152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насколько быстро страница отвечает на взаимодействия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06840" y="3145536"/>
            <a:ext cx="1417320" cy="347472"/>
          </a:xfrm>
          <a:prstGeom prst="roundRect">
            <a:avLst>
              <a:gd name="adj" fmla="val 34211"/>
            </a:avLst>
          </a:prstGeom>
          <a:solidFill>
            <a:srgbClr val="F2A83B"/>
          </a:solidFill>
          <a:ln w="12700">
            <a:solidFill>
              <a:srgbClr val="F2A83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3218688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200 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187952"/>
            <a:ext cx="658368" cy="658368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4398264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886200" y="422452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насколько страница визуально стабильна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006840" y="4288536"/>
            <a:ext cx="1417320" cy="347472"/>
          </a:xfrm>
          <a:prstGeom prst="roundRect">
            <a:avLst>
              <a:gd name="adj" fmla="val 34211"/>
            </a:avLst>
          </a:prstGeom>
          <a:solidFill>
            <a:srgbClr val="6DAA57"/>
          </a:solidFill>
          <a:ln w="12700">
            <a:solidFill>
              <a:srgbClr val="6DAA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4361688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0.1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5596128"/>
            <a:ext cx="9829800" cy="512064"/>
          </a:xfrm>
          <a:prstGeom prst="roundRect">
            <a:avLst>
              <a:gd name="adj" fmla="val 14286"/>
            </a:avLst>
          </a:prstGeom>
          <a:solidFill>
            <a:srgbClr val="E9DFC9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742432"/>
            <a:ext cx="9555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FID больше не Core Web Vital. Для отзывчивости сейчас используем INP.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ИЗМЕРЯТЬ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Лабораторные тесты и RUM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 помогает воспроизвести проблему. RUM показывает, что происходит у настоящих пользователей.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4846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Лабораторный тест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2907792"/>
            <a:ext cx="4160520" cy="1335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Performance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эмуляция сети и CPU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повторяемость сценария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46520" y="1938528"/>
            <a:ext cx="4846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12280" y="2907792"/>
            <a:ext cx="4160520" cy="1335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устройства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сети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персонализация, реклама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полевых данных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06440" y="3511296"/>
            <a:ext cx="557784" cy="0"/>
          </a:xfrm>
          <a:prstGeom prst="line">
            <a:avLst/>
          </a:prstGeom>
          <a:noFill/>
          <a:ln w="279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49240" y="528523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нужны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состоит браузер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— это не только окно со вкладками. Это набор подсистем, которые вместе превращают сетевой ответ в интерактивную страницу.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389120" y="214884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61772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координирует загрузку, рендеринг, безопасность и интерфейс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2423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38528"/>
            <a:ext cx="2148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2240280"/>
            <a:ext cx="21579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адресная строка, вкладки, кнопки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841248" y="4160520"/>
            <a:ext cx="2423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270248"/>
            <a:ext cx="2148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264" y="4572000"/>
            <a:ext cx="21579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DNS, TLS, HTTP, кэш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8961120" y="1783080"/>
            <a:ext cx="2423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892808"/>
            <a:ext cx="2148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89136" y="2194560"/>
            <a:ext cx="21579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DOM, CSSOM, layout, paint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8961120" y="4160520"/>
            <a:ext cx="2423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4270248"/>
            <a:ext cx="2148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89136" y="4572000"/>
            <a:ext cx="21579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JS, event loop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4480560" y="5230368"/>
            <a:ext cx="2423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5340096"/>
            <a:ext cx="2148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08576" y="5641848"/>
            <a:ext cx="21579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cookies, localStorage, IndexedDB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3273552" y="2221992"/>
            <a:ext cx="1042416" cy="539496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73552" y="4535424"/>
            <a:ext cx="1042416" cy="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18120" y="2743200"/>
            <a:ext cx="1097280" cy="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3566160"/>
            <a:ext cx="1097280" cy="969264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0760" y="5157216"/>
            <a:ext cx="0" cy="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Движки браузеров: Blink, WebKit, Gecko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один и тот же, но браузеры используют разные реализации веб-платформы. Поэтому нужно тестировать не только в одном браузере.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057400" y="2103120"/>
            <a:ext cx="1024128" cy="1024128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3913632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Chrome, Edge, Opera, Brave, Яндекс.Браузер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719072" y="4828032"/>
            <a:ext cx="1645920" cy="347472"/>
          </a:xfrm>
          <a:prstGeom prst="roundRect">
            <a:avLst>
              <a:gd name="adj" fmla="val 34211"/>
            </a:avLst>
          </a:prstGeom>
          <a:solidFill>
            <a:srgbClr val="00A6B2"/>
          </a:solidFill>
          <a:ln w="12700">
            <a:solidFill>
              <a:srgbClr val="00A6B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4901184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2103120"/>
            <a:ext cx="1024128" cy="1024128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WebKit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54880" y="3913632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Safari, многие iOS-браузеры на уровне движка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513832" y="4828032"/>
            <a:ext cx="1645920" cy="347472"/>
          </a:xfrm>
          <a:prstGeom prst="roundRect">
            <a:avLst>
              <a:gd name="adj" fmla="val 34211"/>
            </a:avLst>
          </a:prstGeom>
          <a:solidFill>
            <a:srgbClr val="6DAA57"/>
          </a:solidFill>
          <a:ln w="12700">
            <a:solidFill>
              <a:srgbClr val="6DAA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4901184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46920" y="2103120"/>
            <a:ext cx="1024128" cy="1024128"/>
          </a:xfrm>
          <a:prstGeom prst="ellipse">
            <a:avLst/>
          </a:prstGeom>
          <a:solidFill>
            <a:srgbClr val="E65A4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Gecko / Firefox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549640" y="3913632"/>
            <a:ext cx="32461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308592" y="4828032"/>
            <a:ext cx="1645920" cy="347472"/>
          </a:xfrm>
          <a:prstGeom prst="roundRect">
            <a:avLst>
              <a:gd name="adj" fmla="val 34211"/>
            </a:avLst>
          </a:prstGeom>
          <a:solidFill>
            <a:srgbClr val="E65A4F"/>
          </a:solidFill>
          <a:ln w="12700">
            <a:solidFill>
              <a:srgbClr val="E65A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4901184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Mozilla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833872"/>
            <a:ext cx="10332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Одинаковая разметка должна проходить проверку в нескольких браузерах: отличия могут появиться в CSS, API, шрифтах, производительности и мобильном поведении.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страницы: от URL до первого HTML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пользователь вводит адрес сайта, браузер проходит цепочку сетевых этапов до первого ответа.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вводит адрес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221992" y="3099816"/>
            <a:ext cx="338328" cy="0"/>
          </a:xfrm>
          <a:prstGeom prst="line">
            <a:avLst/>
          </a:prstGeom>
          <a:noFill/>
          <a:ln w="2286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1576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 → IP-адрес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142232" y="3099816"/>
            <a:ext cx="338328" cy="0"/>
          </a:xfrm>
          <a:prstGeom prst="line">
            <a:avLst/>
          </a:prstGeom>
          <a:noFill/>
          <a:ln w="2286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соединение с сервером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062472" y="3099816"/>
            <a:ext cx="338328" cy="0"/>
          </a:xfrm>
          <a:prstGeom prst="line">
            <a:avLst/>
          </a:prstGeom>
          <a:noFill/>
          <a:ln w="2286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защищённый канал HTTPS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982712" y="3099816"/>
            <a:ext cx="338328" cy="0"/>
          </a:xfrm>
          <a:prstGeom prst="line">
            <a:avLst/>
          </a:prstGeom>
          <a:noFill/>
          <a:ln w="2286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7648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GET-запрос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902952" y="3099816"/>
            <a:ext cx="338328" cy="0"/>
          </a:xfrm>
          <a:prstGeom prst="line">
            <a:avLst/>
          </a:prstGeom>
          <a:noFill/>
          <a:ln w="2286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8700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0" y="2871216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96728" y="3163824"/>
            <a:ext cx="12984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документ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1051560" y="4864608"/>
            <a:ext cx="9966960" cy="713232"/>
          </a:xfrm>
          <a:prstGeom prst="roundRect">
            <a:avLst>
              <a:gd name="adj" fmla="val 10256"/>
            </a:avLst>
          </a:prstGeom>
          <a:solidFill>
            <a:srgbClr val="E9DFC9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093208"/>
            <a:ext cx="9601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ответ на обычный URL чаще всего содержит HTML. CSS, JS, картинки и шрифты браузер найдёт внутри HTML и запросит отдельно.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как имя сайта становится IP-адресом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— это система, которая связывает удобное доменное имя с техническим адресом сервера.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901952"/>
            <a:ext cx="457200" cy="457200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2996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27632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браузера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404872"/>
            <a:ext cx="0" cy="265176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2679192"/>
            <a:ext cx="457200" cy="457200"/>
          </a:xfrm>
          <a:prstGeom prst="ellipse">
            <a:avLst/>
          </a:prstGeom>
          <a:solidFill>
            <a:srgbClr val="28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0720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27632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ОС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3182112"/>
            <a:ext cx="0" cy="265176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" y="3456432"/>
            <a:ext cx="457200" cy="457200"/>
          </a:xfrm>
          <a:prstGeom prst="ellipse">
            <a:avLst/>
          </a:prstGeom>
          <a:solidFill>
            <a:srgbClr val="F2A83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8444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Роутер / провайдер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88720" y="3959352"/>
            <a:ext cx="0" cy="265176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" y="4233672"/>
            <a:ext cx="457200" cy="457200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36168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27632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Корневые и TLD DNS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88720" y="4736592"/>
            <a:ext cx="0" cy="265176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" y="5010912"/>
            <a:ext cx="457200" cy="457200"/>
          </a:xfrm>
          <a:prstGeom prst="ellipse">
            <a:avLst/>
          </a:prstGeom>
          <a:solidFill>
            <a:srgbClr val="E65A4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13892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27632" y="5056632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Авторитативный DNS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46520" y="1874520"/>
            <a:ext cx="4389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влияет на скорость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6784848" y="274320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новый домен может потребовать отдельного DNS-поиска. Шрифты, аналитика, реклама, CDN и изображения с других доменов увеличивают число сетевых шагов.</a:t>
            </a:r>
            <a:endParaRPr lang="en-US" sz="1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и TLS: прежде чем получить HTML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HTTP-запросом браузеру нужно установить соединение. Для HTTPS добавляется защищённый канал.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three-way handshake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48716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42616"/>
            <a:ext cx="85953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715768"/>
            <a:ext cx="320040" cy="0"/>
          </a:xfrm>
          <a:prstGeom prst="line">
            <a:avLst/>
          </a:prstGeom>
          <a:noFill/>
          <a:ln w="1905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48716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2642616"/>
            <a:ext cx="85953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715768"/>
            <a:ext cx="320040" cy="0"/>
          </a:xfrm>
          <a:prstGeom prst="line">
            <a:avLst/>
          </a:prstGeom>
          <a:noFill/>
          <a:ln w="1905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248716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642616"/>
            <a:ext cx="85953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46634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и сервер согласуют начало надёжной передачи данных.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для HTTPS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248716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642616"/>
            <a:ext cx="80467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ClientHello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360920" y="2715768"/>
            <a:ext cx="201168" cy="0"/>
          </a:xfrm>
          <a:prstGeom prst="line">
            <a:avLst/>
          </a:prstGeom>
          <a:noFill/>
          <a:ln w="1905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248716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642616"/>
            <a:ext cx="80467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503920" y="2715768"/>
            <a:ext cx="201168" cy="0"/>
          </a:xfrm>
          <a:prstGeom prst="line">
            <a:avLst/>
          </a:prstGeom>
          <a:noFill/>
          <a:ln w="1905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86800" y="248716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41664" y="2642616"/>
            <a:ext cx="80467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646920" y="2715768"/>
            <a:ext cx="201168" cy="0"/>
          </a:xfrm>
          <a:prstGeom prst="line">
            <a:avLst/>
          </a:prstGeom>
          <a:noFill/>
          <a:ln w="1905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9800" y="248716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2642616"/>
            <a:ext cx="804672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446520" y="3273552"/>
            <a:ext cx="46634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Стороны проверяют сертификат и создают ключи для шифрования.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" y="4983480"/>
            <a:ext cx="9921240" cy="566928"/>
          </a:xfrm>
          <a:prstGeom prst="roundRect">
            <a:avLst>
              <a:gd name="adj" fmla="val 12903"/>
            </a:avLst>
          </a:prstGeom>
          <a:solidFill>
            <a:srgbClr val="E9DFC9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166360"/>
            <a:ext cx="9601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современной практике сайт должен поддерживать TLS 1.2 или 1.3; TLS 1.0/1.1 устарели.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ДОКУМЕНТ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HTTP-запрос и HTTP-ответ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протокол обмена сообщениями: браузер запрашивает ресурс, сервер возвращает ответ.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8920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12848"/>
            <a:ext cx="4434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браузера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2907792"/>
            <a:ext cx="4251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HTTP/2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example.com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text/html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...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46520" y="1920240"/>
            <a:ext cx="48920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12848"/>
            <a:ext cx="4434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сервера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0" y="2907792"/>
            <a:ext cx="4251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text/html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 ...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html&gt;...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15000" y="3474720"/>
            <a:ext cx="640080" cy="0"/>
          </a:xfrm>
          <a:prstGeom prst="line">
            <a:avLst/>
          </a:prstGeom>
          <a:noFill/>
          <a:ln w="279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без состояния: для «памяти» сайта нужны cookies, session storage, токены или серверные сессии.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НА ЧАСТЫЙ ВОПРОС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приходит первым, ресурсы — отдельными запросами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это карта дальнейшей загрузки: в нём браузер находит CSS, JS, изображения и шрифты.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063240" cy="32918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2157984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6974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href="style.css"&gt;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src="hero.jpg"&gt;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73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href="font.woff2"&gt;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913632" y="3520440"/>
            <a:ext cx="795528" cy="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99339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57984"/>
            <a:ext cx="155448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913632" y="3520440"/>
            <a:ext cx="795528" cy="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290779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72384"/>
            <a:ext cx="155448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13632" y="3520440"/>
            <a:ext cx="795528" cy="50292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382219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986784"/>
            <a:ext cx="155448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hero.jpg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913632" y="3520440"/>
            <a:ext cx="795528" cy="1417320"/>
          </a:xfrm>
          <a:prstGeom prst="line">
            <a:avLst/>
          </a:prstGeom>
          <a:noFill/>
          <a:ln w="1524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00600" y="473659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901184"/>
            <a:ext cx="155448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font.woff2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2240280"/>
            <a:ext cx="3337560" cy="2606040"/>
          </a:xfrm>
          <a:prstGeom prst="roundRect">
            <a:avLst>
              <a:gd name="adj" fmla="val 2807"/>
            </a:avLst>
          </a:prstGeom>
          <a:solidFill>
            <a:srgbClr val="FFE9C2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91856" y="2596896"/>
            <a:ext cx="2651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всё сразу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73568" y="3246120"/>
            <a:ext cx="2697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ответ обычно содержит HTML. Остальное браузер обнаруживает, планирует и загружает отдельными HTTP-запросами.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Рендеринг: как код становится картинкой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 — это процесс преобразования HTML, CSS и JavaScript в видимую интерактивную страницу.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30552" y="3099816"/>
            <a:ext cx="310896" cy="0"/>
          </a:xfrm>
          <a:prstGeom prst="line">
            <a:avLst/>
          </a:prstGeom>
          <a:noFill/>
          <a:ln w="2032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96312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86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32504" y="3099816"/>
            <a:ext cx="310896" cy="0"/>
          </a:xfrm>
          <a:prstGeom prst="line">
            <a:avLst/>
          </a:prstGeom>
          <a:noFill/>
          <a:ln w="2032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98264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CSSOM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7136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tree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34456" y="3099816"/>
            <a:ext cx="310896" cy="0"/>
          </a:xfrm>
          <a:prstGeom prst="line">
            <a:avLst/>
          </a:prstGeom>
          <a:noFill/>
          <a:ln w="2032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0216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A8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36408" y="3099816"/>
            <a:ext cx="310896" cy="0"/>
          </a:xfrm>
          <a:prstGeom prst="line">
            <a:avLst/>
          </a:prstGeom>
          <a:noFill/>
          <a:ln w="2032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0216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пиксели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38360" y="3099816"/>
            <a:ext cx="310896" cy="0"/>
          </a:xfrm>
          <a:prstGeom prst="line">
            <a:avLst/>
          </a:prstGeom>
          <a:noFill/>
          <a:ln w="20320">
            <a:solidFill>
              <a:srgbClr val="BBAF9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0412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22992" y="2862072"/>
            <a:ext cx="12710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22992" y="3163824"/>
            <a:ext cx="127101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51560" y="4828032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E9DFC9"/>
          </a:solidFill>
          <a:ln w="12700">
            <a:solidFill>
              <a:srgbClr val="D8CC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065776"/>
            <a:ext cx="9601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JavaScript меняет DOM или стили, браузер может пересчитать layout и заново перерисовать часть страницы: reflow / repaint.</a:t>
            </a:r>
            <a:endParaRPr lang="en-US" sz="17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УЗКИЕ МЕСТА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может замедлить страницу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место может появиться как в сети, так и в рендеринге или JavaScript.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475488" cy="475488"/>
          </a:xfrm>
          <a:prstGeom prst="ellipse">
            <a:avLst/>
          </a:prstGeom>
          <a:solidFill>
            <a:srgbClr val="28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0939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доменов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72768" y="2258568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лишние DNS и соединения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475488" cy="475488"/>
          </a:xfrm>
          <a:prstGeom prst="ellipse">
            <a:avLst/>
          </a:prstGeom>
          <a:solidFill>
            <a:srgbClr val="E65A4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20939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1920240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Тяжёлые ресурсы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04888" y="2258568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картинки, шрифты, JS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3136392"/>
            <a:ext cx="475488" cy="475488"/>
          </a:xfrm>
          <a:prstGeom prst="ellipse">
            <a:avLst/>
          </a:prstGeom>
          <a:solidFill>
            <a:srgbClr val="F2A83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26440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Блокирующий CSS/JS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72768" y="3429000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ждёт критичные файлы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0" y="3136392"/>
            <a:ext cx="475488" cy="475488"/>
          </a:xfrm>
          <a:prstGeom prst="ellipse">
            <a:avLst/>
          </a:prstGeom>
          <a:solidFill>
            <a:srgbClr val="7A5C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3264408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Долгий JS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04888" y="3429000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занятый main thread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4306824"/>
            <a:ext cx="475488" cy="475488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434840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4261104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Сдвиги layout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72768" y="4599432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скачущие блоки и реклама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00800" y="4306824"/>
            <a:ext cx="475488" cy="475488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4434840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4261104"/>
            <a:ext cx="42062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кэша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04888" y="4599432"/>
            <a:ext cx="4206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загрузка всего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1440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начинается не с догадки, а с просмотра Network и Performance в DevTools.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ПОКАЗАТЬ СТУДЕНТАМ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на занятии: WebStorm + DevTools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Мини-сценарий демонстрации: от HTML-файла до анализа загрузки ресурсов.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865376"/>
            <a:ext cx="402336" cy="40233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984248"/>
            <a:ext cx="128016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6080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index.html в WebStorm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402336" cy="40233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660904"/>
            <a:ext cx="128016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578608"/>
            <a:ext cx="6080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style.css и app.js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" y="3218688"/>
            <a:ext cx="402336" cy="40233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3337560"/>
            <a:ext cx="128016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3255264"/>
            <a:ext cx="6080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страницу в браузере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895344"/>
            <a:ext cx="402336" cy="40233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014216"/>
            <a:ext cx="128016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6080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→ Network: увидеть отдельные запросы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4572000"/>
            <a:ext cx="402336" cy="40233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4690872"/>
            <a:ext cx="128016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4608576"/>
            <a:ext cx="6080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→ Performance: увидеть рендеринг и JS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92440" y="19202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студенты должны увидеть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2907792"/>
            <a:ext cx="22860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приходит первым. CSS, JS и изображения идут отдельными строками в Network.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модель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этого блока студент должен понимать не только синтаксис HTML, но и роль HTML в цепочке загрузки страницы.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4825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5915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начинает навигацию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04825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235915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находит IP сервера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458200" y="192024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00A6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04825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TCP/TLS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235915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соединение и защищённый канал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6557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HTTP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77647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HTML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46557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Resources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0600" y="377647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загружает CSS, JS, изображения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8458200" y="3337560"/>
            <a:ext cx="3063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6DA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3465576"/>
            <a:ext cx="2788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Render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3776472"/>
            <a:ext cx="2788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 DOM/CSSOM и рисует страницу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1024128" y="5285232"/>
            <a:ext cx="10021824" cy="512064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5431536"/>
            <a:ext cx="9646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это не «картинка сайта», а структурный документ, с которого браузер начинает сборку веб-страницы.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ФАКТЧЕКИНГ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что было уточнено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4241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исправления: INP вместо FID; браузер не буквально однопоточен; первый ответ обычно HTML, остальные ресурсы идут отдельно.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1847088"/>
            <a:ext cx="310896" cy="31089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10512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web.dev: Web Vitals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40680" y="1810512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LCP, INP, CLS и пороговые значения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310896" cy="310896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432304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web.dev: INP became a Core Web Vital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40680" y="2432304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 заменил FID с 12 марта 2024 года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090672"/>
            <a:ext cx="310896" cy="31089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054096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MDN: How browsers work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40680" y="3054096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DOM, CSSOM, render tree, critical rendering path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12464"/>
            <a:ext cx="310896" cy="310896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675888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MDN: HTTP overview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440680" y="3675888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как клиент-серверный протокол без состояния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334256"/>
            <a:ext cx="310896" cy="310896"/>
          </a:xfrm>
          <a:prstGeom prst="ellipse">
            <a:avLst/>
          </a:prstGeom>
          <a:solidFill>
            <a:srgbClr val="00A6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Chromium: Blink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440680" y="4297680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— rendering engine Chromium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956048"/>
            <a:ext cx="310896" cy="310896"/>
          </a:xfrm>
          <a:prstGeom prst="ellipse">
            <a:avLst/>
          </a:prstGeom>
          <a:solidFill>
            <a:srgbClr val="6DAA5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919472"/>
            <a:ext cx="40233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Developers: Inside modern browser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40680" y="4919472"/>
            <a:ext cx="5394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 process, main thread, workers, compositor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8A7E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2906</Words>
  <Application>Microsoft Macintosh PowerPoint</Application>
  <PresentationFormat>Widescreen</PresentationFormat>
  <Paragraphs>342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Производительность веб-приложений и работа браузера</dc:title>
  <dc:subject>Как браузер загружает и рендерит веб-страницы</dc:subject>
  <dc:creator>OpenAI</dc:creator>
  <cp:lastModifiedBy>Matvey Romodanovskiy</cp:lastModifiedBy>
  <cp:revision>2</cp:revision>
  <dcterms:created xsi:type="dcterms:W3CDTF">2026-07-15T10:02:26Z</dcterms:created>
  <dcterms:modified xsi:type="dcterms:W3CDTF">2026-07-15T10:07:09Z</dcterms:modified>
</cp:coreProperties>
</file>